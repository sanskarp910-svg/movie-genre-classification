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C2228"/>
          </a:solidFill>
          <a:ln w="15240">
            <a:solidFill>
              <a:srgbClr val="2C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554480"/>
            <a:ext cx="85340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00E054"/>
                </a:solidFill>
              </a:defRPr>
            </a:pPr>
            <a:r>
              <a:t>CINEMIX ▶</a:t>
            </a:r>
          </a:p>
          <a:p>
            <a:pPr>
              <a:spcBef>
                <a:spcPts val="1200"/>
              </a:spcBef>
              <a:defRPr sz="2000" b="1">
                <a:solidFill>
                  <a:srgbClr val="FFFFFF"/>
                </a:solidFill>
              </a:defRPr>
            </a:pPr>
            <a:r>
              <a:t>Multi-Label Cinema &amp; Anime Genre Classifier and Hybrid Recommender</a:t>
            </a:r>
          </a:p>
          <a:p>
            <a:pPr>
              <a:spcBef>
                <a:spcPts val="1400"/>
              </a:spcBef>
              <a:defRPr sz="1400">
                <a:solidFill>
                  <a:srgbClr val="99AABB"/>
                </a:solidFill>
              </a:defRPr>
            </a:pPr>
            <a:r>
              <a:t>A production-grade NLP system engineered with 12 calibrated OneVsRest sigmoid classifiers, 3-tier hybrid recommendation ranking, and an authentic Letterboxd minimalist aesthetic.</a:t>
            </a:r>
          </a:p>
          <a:p>
            <a:pPr>
              <a:spcBef>
                <a:spcPts val="2400"/>
              </a:spcBef>
              <a:defRPr sz="1100" b="1">
                <a:solidFill>
                  <a:srgbClr val="40BCF4"/>
                </a:solidFill>
              </a:defRPr>
            </a:pPr>
            <a:r>
              <a:t>Live Deployment: https://movie-genre-classification-j8iw.vercel.app/</a:t>
            </a:r>
            <a:br/>
            <a:r>
              <a:t>Evaluated with 5-Fold Stratified Cross-Validation on TMDB 5000 + Anime Corpus (4,680+ Titles)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E054"/>
                </a:solidFill>
              </a:defRPr>
            </a:pPr>
            <a:r>
              <a:t>EXECUTIVE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Challenge: Why Film Genre Classification Needed an Overhaul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1051560"/>
          </a:xfrm>
          <a:prstGeom prst="roundRect">
            <a:avLst/>
          </a:prstGeom>
          <a:solidFill>
            <a:srgbClr val="1C2228"/>
          </a:solidFill>
          <a:ln w="15240">
            <a:solidFill>
              <a:srgbClr val="2C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72768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E054"/>
                </a:solidFill>
              </a:defRPr>
            </a:pPr>
            <a:r>
              <a:t>1. The Multi-Label Reality of Cinema</a:t>
            </a:r>
          </a:p>
          <a:p>
            <a:pPr>
              <a:spcBef>
                <a:spcPts val="400"/>
              </a:spcBef>
              <a:defRPr sz="1100">
                <a:solidFill>
                  <a:srgbClr val="99AABB"/>
                </a:solidFill>
              </a:defRPr>
            </a:pPr>
            <a:r>
              <a:t>Real movies and anime never belong to a single genre. Inception is simultaneously Sci-Fi, Action, and Thriller; Spirited Away is Animation, Fantasy, and Adventure. Single-label classifiers fail by forcing complex narratives into a single pigeonhole.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97480"/>
            <a:ext cx="10728655" cy="1051560"/>
          </a:xfrm>
          <a:prstGeom prst="roundRect">
            <a:avLst/>
          </a:prstGeom>
          <a:solidFill>
            <a:srgbClr val="1C2228"/>
          </a:solidFill>
          <a:ln w="15240">
            <a:solidFill>
              <a:srgbClr val="2C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807208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8000"/>
                </a:solidFill>
              </a:defRPr>
            </a:pPr>
            <a:r>
              <a:t>2. Baseline Failure: 35% Accuracy</a:t>
            </a:r>
          </a:p>
          <a:p>
            <a:pPr>
              <a:spcBef>
                <a:spcPts val="400"/>
              </a:spcBef>
              <a:defRPr sz="1100">
                <a:solidFill>
                  <a:srgbClr val="99AABB"/>
                </a:solidFill>
              </a:defRPr>
            </a:pPr>
            <a:r>
              <a:t>The legacy implementation operated on a tiny dataset of 100 movies with only 20 test samples, yielding a flawed 35.0% accuracy on basic Multinomial Naive Bayes.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728655" cy="1051560"/>
          </a:xfrm>
          <a:prstGeom prst="roundRect">
            <a:avLst/>
          </a:prstGeom>
          <a:solidFill>
            <a:srgbClr val="1C2228"/>
          </a:solidFill>
          <a:ln w="15240">
            <a:solidFill>
              <a:srgbClr val="2C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041648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3. Uninformative Plain-Text Output</a:t>
            </a:r>
          </a:p>
          <a:p>
            <a:pPr>
              <a:spcBef>
                <a:spcPts val="400"/>
              </a:spcBef>
              <a:defRPr sz="1100">
                <a:solidFill>
                  <a:srgbClr val="99AABB"/>
                </a:solidFill>
              </a:defRPr>
            </a:pPr>
            <a:r>
              <a:t>Previous recommenders outputted raw titles without posters, release years, vote ratings, or genre tags, and displayed confusing empty states like 'Action, 0%' before queries were entered.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66360"/>
            <a:ext cx="10728655" cy="1051560"/>
          </a:xfrm>
          <a:prstGeom prst="roundRect">
            <a:avLst/>
          </a:prstGeom>
          <a:solidFill>
            <a:srgbClr val="1C2228"/>
          </a:solidFill>
          <a:ln w="15240">
            <a:solidFill>
              <a:srgbClr val="2C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276088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4. Vercel Serverless Exceeded (544 MB)</a:t>
            </a:r>
          </a:p>
          <a:p>
            <a:pPr>
              <a:spcBef>
                <a:spcPts val="400"/>
              </a:spcBef>
              <a:defRPr sz="1100">
                <a:solidFill>
                  <a:srgbClr val="99AABB"/>
                </a:solidFill>
              </a:defRPr>
            </a:pPr>
            <a:r>
              <a:t>Standard ML stacks (Scikit-Learn, Pandas, SciPy, NumPy) blow past Vercel's strict 250 MB serverless lambda limit, causing immediate deployment failure without specialized zero-dependency optimization.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E054"/>
                </a:solidFill>
              </a:defRPr>
            </a:pPr>
            <a:r>
              <a:t>DATA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Dataset Engineering: Expanding from 100 to 4,680+ Cinematic Titles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C2228"/>
          </a:solidFill>
          <a:ln w="15240">
            <a:solidFill>
              <a:srgbClr val="2C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054"/>
                </a:solidFill>
              </a:defRPr>
            </a:pPr>
            <a:r>
              <a:t>Dataset Synthesis &amp; Curation</a:t>
            </a:r>
          </a:p>
          <a:p>
            <a:pPr>
              <a:spcBef>
                <a:spcPts val="1000"/>
              </a:spcBef>
              <a:defRPr sz="1100">
                <a:solidFill>
                  <a:srgbClr val="99AABB"/>
                </a:solidFill>
              </a:defRPr>
            </a:pPr>
            <a:r>
              <a:t>• TMDB 5000 Movies: 4,680+ real feature films with validated overviews, vote averages, and genre lists.</a:t>
            </a:r>
          </a:p>
          <a:p>
            <a:pPr>
              <a:spcBef>
                <a:spcPts val="1000"/>
              </a:spcBef>
              <a:defRPr sz="1100">
                <a:solidFill>
                  <a:srgbClr val="99AABB"/>
                </a:solidFill>
              </a:defRPr>
            </a:pPr>
            <a:r>
              <a:t>• Curated Anime Classics: Integrated high-impact anime titles: Death Note, Spirited Away, Ghost in the Shell, Demon Slayer, Attack on Titan.</a:t>
            </a:r>
          </a:p>
          <a:p>
            <a:pPr>
              <a:spcBef>
                <a:spcPts val="1000"/>
              </a:spcBef>
              <a:defRPr sz="1100">
                <a:solidFill>
                  <a:srgbClr val="99AABB"/>
                </a:solidFill>
              </a:defRPr>
            </a:pPr>
            <a:r>
              <a:t>• Training Set (80%): 3,744 rigorously cleaned storylines.</a:t>
            </a:r>
          </a:p>
          <a:p>
            <a:pPr>
              <a:spcBef>
                <a:spcPts val="1000"/>
              </a:spcBef>
              <a:defRPr sz="1100">
                <a:solidFill>
                  <a:srgbClr val="99AABB"/>
                </a:solidFill>
              </a:defRPr>
            </a:pPr>
            <a:r>
              <a:t>• Test Set (20%): 936 stratified hold-out test samples.</a:t>
            </a:r>
          </a:p>
          <a:p>
            <a:pPr>
              <a:spcBef>
                <a:spcPts val="1000"/>
              </a:spcBef>
              <a:defRPr sz="1100">
                <a:solidFill>
                  <a:srgbClr val="99AABB"/>
                </a:solidFill>
              </a:defRPr>
            </a:pPr>
            <a:r>
              <a:t>• Target Classes: 12 top genres: Drama, Comedy, Thriller, Action, Romance, Adventure, Crime, Sci-Fi, Horror, Family, Fantasy, Animation.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1C2228"/>
          </a:solidFill>
          <a:ln w="15240">
            <a:solidFill>
              <a:srgbClr val="2C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0BCF4"/>
                </a:solidFill>
              </a:defRPr>
            </a:pPr>
            <a:r>
              <a:t>Morphological NLP Preprocessing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1. Normalization &amp; Cleaning</a:t>
            </a:r>
          </a:p>
          <a:p>
            <a:pPr>
              <a:spcBef>
                <a:spcPts val="200"/>
              </a:spcBef>
              <a:defRPr sz="1100">
                <a:solidFill>
                  <a:srgbClr val="99AABB"/>
                </a:solidFill>
              </a:defRPr>
            </a:pPr>
            <a:r>
              <a:t>Case-folding, entity unescaping, punctuation stripping while preserving hyphens in compound words.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2. Stopword Filtering</a:t>
            </a:r>
          </a:p>
          <a:p>
            <a:pPr>
              <a:spcBef>
                <a:spcPts val="200"/>
              </a:spcBef>
              <a:defRPr sz="1100">
                <a:solidFill>
                  <a:srgbClr val="99AABB"/>
                </a:solidFill>
              </a:defRPr>
            </a:pPr>
            <a:r>
              <a:t>Removed 150+ high-frequency English stopwords (the, and, at, in) that introduce noise.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3. Snowball Stemming &amp; Lemmatization</a:t>
            </a:r>
          </a:p>
          <a:p>
            <a:pPr>
              <a:spcBef>
                <a:spcPts val="200"/>
              </a:spcBef>
              <a:defRPr sz="1100">
                <a:solidFill>
                  <a:srgbClr val="99AABB"/>
                </a:solidFill>
              </a:defRPr>
            </a:pPr>
            <a:r>
              <a:t>Normalizes irregulars (superheroes → superhero, murderers → murder, detectives → detect).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4. 6,000 N-Gram Feature Space</a:t>
            </a:r>
          </a:p>
          <a:p>
            <a:pPr>
              <a:spcBef>
                <a:spcPts val="200"/>
              </a:spcBef>
              <a:defRPr sz="1100">
                <a:solidFill>
                  <a:srgbClr val="99AABB"/>
                </a:solidFill>
              </a:defRPr>
            </a:pPr>
            <a:r>
              <a:t>Unigrams &amp; Bigrams with sublinear term-frequency scaling: tf = 1 + ln(count). Captures contextual phrases like 'space travel', 'serial killer', and 'high school'.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E054"/>
                </a:solidFill>
              </a:defRPr>
            </a:pPr>
            <a:r>
              <a:t>MODEL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Model Architecture &amp; 5-Fold Stratified Cross-Validation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2377440"/>
          </a:xfrm>
          <a:prstGeom prst="roundRect">
            <a:avLst/>
          </a:prstGeom>
          <a:solidFill>
            <a:srgbClr val="1C2228"/>
          </a:solidFill>
          <a:ln w="15240">
            <a:solidFill>
              <a:srgbClr val="2C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149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5-Fold Cross-Validation Benchmark Comparison</a:t>
            </a:r>
          </a:p>
          <a:p>
            <a:br/>
            <a:pPr>
              <a:spcBef>
                <a:spcPts val="800"/>
              </a:spcBef>
              <a:defRPr sz="1100">
                <a:solidFill>
                  <a:srgbClr val="00E054"/>
                </a:solidFill>
                <a:latin typeface="Courier New"/>
              </a:defRPr>
            </a:pPr>
            <a:r>
              <a:t>Architecture                       Hamming Acc.      Micro F1          Macro F1         Status</a:t>
            </a:r>
            <a:br/>
            <a:r>
              <a:t>-----------------------------------------------------------------------------------------------------------------</a:t>
            </a:r>
            <a:br/>
            <a:r>
              <a:t>Logistic Regression (OvR, Balanced) 86.4% ±0.3%       66.7% ±0.7%       64.0% ±1.0%      ★ DEPLOYED (Continuous Sigmoids)</a:t>
            </a:r>
            <a:br/>
            <a:r>
              <a:t>LinearSVC (OvR, Balanced)           86.0% ±0.3%       64.3% ±0.9%       61.1% ±0.8%      Evaluated Benchmark</a:t>
            </a:r>
            <a:br/>
            <a:r>
              <a:t>Multinomial Naive Bayes (Baseline)  86.6% ±0.4%       58.5% ±1.4%       46.4% ±1.4%      Replaced (Poor minority recall)</a:t>
            </a:r>
            <a:br/>
            <a:r>
              <a:t>   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2499055" cy="2011680"/>
          </a:xfrm>
          <a:prstGeom prst="roundRect">
            <a:avLst/>
          </a:prstGeom>
          <a:solidFill>
            <a:srgbClr val="1C2228"/>
          </a:solidFill>
          <a:ln w="15240">
            <a:solidFill>
              <a:srgbClr val="2C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297680"/>
            <a:ext cx="222473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E054"/>
                </a:solidFill>
              </a:defRPr>
            </a:pPr>
            <a:r>
              <a:t>86.7%</a:t>
            </a:r>
          </a:p>
          <a:p>
            <a:pPr algn="ctr">
              <a:spcBef>
                <a:spcPts val="600"/>
              </a:spcBef>
              <a:defRPr sz="1200" b="1">
                <a:solidFill>
                  <a:srgbClr val="99AABB"/>
                </a:solidFill>
              </a:defRPr>
            </a:pPr>
            <a:r>
              <a:t>Hamming Accuracy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4114800"/>
            <a:ext cx="2499055" cy="2011680"/>
          </a:xfrm>
          <a:prstGeom prst="roundRect">
            <a:avLst/>
          </a:prstGeom>
          <a:solidFill>
            <a:srgbClr val="1C2228"/>
          </a:solidFill>
          <a:ln w="15240">
            <a:solidFill>
              <a:srgbClr val="2C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4297680"/>
            <a:ext cx="222473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0BCF4"/>
                </a:solidFill>
              </a:defRPr>
            </a:pPr>
            <a:r>
              <a:t>67.7%</a:t>
            </a:r>
          </a:p>
          <a:p>
            <a:pPr algn="ctr">
              <a:spcBef>
                <a:spcPts val="600"/>
              </a:spcBef>
              <a:defRPr sz="1200" b="1">
                <a:solidFill>
                  <a:srgbClr val="99AABB"/>
                </a:solidFill>
              </a:defRPr>
            </a:pPr>
            <a:r>
              <a:t>Micro F1-Score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2499055" cy="2011680"/>
          </a:xfrm>
          <a:prstGeom prst="roundRect">
            <a:avLst/>
          </a:prstGeom>
          <a:solidFill>
            <a:srgbClr val="1C2228"/>
          </a:solidFill>
          <a:ln w="15240">
            <a:solidFill>
              <a:srgbClr val="2C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4297680"/>
            <a:ext cx="222473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8000"/>
                </a:solidFill>
              </a:defRPr>
            </a:pPr>
            <a:r>
              <a:t>96.8%</a:t>
            </a:r>
          </a:p>
          <a:p>
            <a:pPr algn="ctr">
              <a:spcBef>
                <a:spcPts val="600"/>
              </a:spcBef>
              <a:defRPr sz="1200" b="1">
                <a:solidFill>
                  <a:srgbClr val="99AABB"/>
                </a:solidFill>
              </a:defRPr>
            </a:pPr>
            <a:r>
              <a:t>Top-3 Hit 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4114800"/>
            <a:ext cx="2499055" cy="2011680"/>
          </a:xfrm>
          <a:prstGeom prst="roundRect">
            <a:avLst/>
          </a:prstGeom>
          <a:solidFill>
            <a:srgbClr val="1C2228"/>
          </a:solidFill>
          <a:ln w="15240">
            <a:solidFill>
              <a:srgbClr val="2C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4297680"/>
            <a:ext cx="222473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4,680</a:t>
            </a:r>
          </a:p>
          <a:p>
            <a:pPr algn="ctr">
              <a:spcBef>
                <a:spcPts val="600"/>
              </a:spcBef>
              <a:defRPr sz="1200" b="1">
                <a:solidFill>
                  <a:srgbClr val="99AABB"/>
                </a:solidFill>
              </a:defRPr>
            </a:pPr>
            <a:r>
              <a:t>Catalog Titles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E054"/>
                </a:solidFill>
              </a:defRPr>
            </a:pPr>
            <a:r>
              <a:t>MATHEMATICAL FORMULATION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Multi-Label Inference Engine: Calibrated Continuous Sigmoids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4754880"/>
          </a:xfrm>
          <a:prstGeom prst="roundRect">
            <a:avLst/>
          </a:prstGeom>
          <a:solidFill>
            <a:srgbClr val="1C2228"/>
          </a:solidFill>
          <a:ln w="15240">
            <a:solidFill>
              <a:srgbClr val="2C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9966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054"/>
                </a:solidFill>
              </a:defRPr>
            </a:pPr>
            <a:r>
              <a:t>Mathematical Formulation of Multi-Label Scoring</a:t>
            </a:r>
          </a:p>
          <a:p>
            <a:pPr>
              <a:spcBef>
                <a:spcPts val="1200"/>
              </a:spcBef>
              <a:defRPr sz="1400" b="1">
                <a:solidFill>
                  <a:srgbClr val="FFFFFF"/>
                </a:solidFill>
              </a:defRPr>
            </a:pPr>
            <a:r>
              <a:t>1. Independent Linear Logit Calculation</a:t>
            </a:r>
          </a:p>
          <a:p>
            <a:pPr>
              <a:spcBef>
                <a:spcPts val="300"/>
              </a:spcBef>
              <a:defRPr sz="1100">
                <a:solidFill>
                  <a:srgbClr val="99AABB"/>
                </a:solidFill>
              </a:defRPr>
            </a:pPr>
            <a:r>
              <a:t>For each of the 12 genres c, the linear projection is computed: z_c = b_c + Σ (w_c,i * x_i), where x_i is the sublinear TF-IDF weight of token i and w_c,i is the class feature weight.</a:t>
            </a:r>
          </a:p>
          <a:p>
            <a:pPr>
              <a:spcBef>
                <a:spcPts val="1200"/>
              </a:spcBef>
              <a:defRPr sz="1400" b="1">
                <a:solidFill>
                  <a:srgbClr val="FFFFFF"/>
                </a:solidFill>
              </a:defRPr>
            </a:pPr>
            <a:r>
              <a:t>2. Logistic Sigmoid Probability Calibration</a:t>
            </a:r>
          </a:p>
          <a:p>
            <a:pPr>
              <a:spcBef>
                <a:spcPts val="300"/>
              </a:spcBef>
              <a:defRPr sz="1100">
                <a:solidFill>
                  <a:srgbClr val="99AABB"/>
                </a:solidFill>
              </a:defRPr>
            </a:pPr>
            <a:r>
              <a:t>Continuous probabilities are bounded in (0, 1) without artificial softmax distortion: P(Genre_c | x) = 1 / (1 + exp(-z_c)). Unlike softmax which forces probabilities to sum to 1.0 (assuming mutual exclusivity), sigmoid allows multi-genre films to exhibit 90%+ in Drama AND 80%+ in Romance simultaneously.</a:t>
            </a:r>
          </a:p>
          <a:p>
            <a:pPr>
              <a:spcBef>
                <a:spcPts val="1200"/>
              </a:spcBef>
              <a:defRPr sz="1400" b="1">
                <a:solidFill>
                  <a:srgbClr val="FFFFFF"/>
                </a:solidFill>
              </a:defRPr>
            </a:pPr>
            <a:r>
              <a:t>3. Dynamic Top-3 Ranking &amp; Percentage Output</a:t>
            </a:r>
          </a:p>
          <a:p>
            <a:pPr>
              <a:spcBef>
                <a:spcPts val="300"/>
              </a:spcBef>
              <a:defRPr sz="1100">
                <a:solidFill>
                  <a:srgbClr val="99AABB"/>
                </a:solidFill>
              </a:defRPr>
            </a:pPr>
            <a:r>
              <a:t>The 12 calibrated probabilities are sorted descendingly. The top 3 genres are returned with animated percentage bars: e.g. Romance (94.2%), Drama (83.0%), Comedy (54.7%).</a:t>
            </a:r>
          </a:p>
          <a:p>
            <a:pPr>
              <a:spcBef>
                <a:spcPts val="1200"/>
              </a:spcBef>
              <a:defRPr sz="1400" b="1">
                <a:solidFill>
                  <a:srgbClr val="FFFFFF"/>
                </a:solidFill>
              </a:defRPr>
            </a:pPr>
            <a:r>
              <a:t>4. Low-Confidence Ambiguity Detection</a:t>
            </a:r>
          </a:p>
          <a:p>
            <a:pPr>
              <a:spcBef>
                <a:spcPts val="300"/>
              </a:spcBef>
              <a:defRPr sz="1100">
                <a:solidFill>
                  <a:srgbClr val="99AABB"/>
                </a:solidFill>
              </a:defRPr>
            </a:pPr>
            <a:r>
              <a:t>If the gap between the top two genres is less than 0.08 (|P1 - P2| &lt; 0.08), Cinemix surfaces an automated ambiguity alert informing the user that the plot contains blended narrative elements.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E054"/>
                </a:solidFill>
              </a:defRPr>
            </a:pPr>
            <a:r>
              <a:t>INTERPRETABILITY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Explainable AI (XAI): 'Why This Prediction?' Feature Attribution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C2228"/>
          </a:solidFill>
          <a:ln w="15240">
            <a:solidFill>
              <a:srgbClr val="2C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8000"/>
                </a:solidFill>
              </a:defRPr>
            </a:pPr>
            <a:r>
              <a:t>How Feature Attribution Works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Black-Box Models vs Transparent NLP</a:t>
            </a:r>
          </a:p>
          <a:p>
            <a:pPr>
              <a:spcBef>
                <a:spcPts val="200"/>
              </a:spcBef>
              <a:defRPr sz="1100">
                <a:solidFill>
                  <a:srgbClr val="99AABB"/>
                </a:solidFill>
              </a:defRPr>
            </a:pPr>
            <a:r>
              <a:t>Many deep learning models provide zero rationale for their predictions. Cinemix exposes the linear feature attribution to screenwriters and researchers.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Attribution Formula</a:t>
            </a:r>
          </a:p>
          <a:p>
            <a:pPr>
              <a:spcBef>
                <a:spcPts val="200"/>
              </a:spcBef>
              <a:defRPr sz="1100">
                <a:solidFill>
                  <a:srgbClr val="99AABB"/>
                </a:solidFill>
              </a:defRPr>
            </a:pPr>
            <a:r>
              <a:t>For the winning primary class c, word impact is computed as: Impact(t) = TF-IDF(t) * w_(c, t).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Significance Thresholding</a:t>
            </a:r>
          </a:p>
          <a:p>
            <a:pPr>
              <a:spcBef>
                <a:spcPts val="200"/>
              </a:spcBef>
              <a:defRPr sz="1100">
                <a:solidFill>
                  <a:srgbClr val="99AABB"/>
                </a:solidFill>
              </a:defRPr>
            </a:pPr>
            <a:r>
              <a:t>Tokens with weights w &gt; 0.15 are isolated, ranked, and surfaced as interactive badge chips in the UI.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Real Case Study (La La Land)</a:t>
            </a:r>
          </a:p>
          <a:p>
            <a:pPr>
              <a:spcBef>
                <a:spcPts val="200"/>
              </a:spcBef>
              <a:defRPr sz="1100">
                <a:solidFill>
                  <a:srgbClr val="99AABB"/>
                </a:solidFill>
              </a:defRPr>
            </a:pPr>
            <a:r>
              <a:t>Storyline containing 'jazz pianist, aspiring actress, fall in love' yields:</a:t>
            </a:r>
            <a:br/>
            <a:r>
              <a:t>• 'love' (+1.58 impact)</a:t>
            </a:r>
            <a:br/>
            <a:r>
              <a:t>• 'aspir' (+0.58 impact)</a:t>
            </a:r>
            <a:br/>
            <a:r>
              <a:t>• 'fall' (+0.48 impact)</a:t>
            </a:r>
            <a:br/>
            <a:r>
              <a:t>• 'jazz' (+0.17 impact)</a:t>
            </a:r>
            <a:br/>
            <a:r>
              <a:t>Predicting Romance (94.2%) transparently.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1C2228"/>
          </a:solidFill>
          <a:ln w="15240">
            <a:solidFill>
              <a:srgbClr val="2C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054"/>
                </a:solidFill>
              </a:defRPr>
            </a:pPr>
            <a:r>
              <a:t>Per-Genre Test Set Metrics (N=936)</a:t>
            </a:r>
          </a:p>
          <a:p>
            <a:br/>
            <a:pPr>
              <a:spcBef>
                <a:spcPts val="1000"/>
              </a:spcBef>
              <a:defRPr sz="1100">
                <a:solidFill>
                  <a:srgbClr val="FFFFFF"/>
                </a:solidFill>
                <a:latin typeface="Courier New"/>
              </a:defRPr>
            </a:pPr>
            <a:r>
              <a:t>Genre            Precision   Recall    F1-Score   Support</a:t>
            </a:r>
            <a:br/>
            <a:r>
              <a:t>---------------------------------------------------------</a:t>
            </a:r>
            <a:br/>
            <a:r>
              <a:t>Drama              75.7%     75.6%      75.7%       479</a:t>
            </a:r>
            <a:br/>
            <a:r>
              <a:t>Animation          71.8%     76.7%      74.2%        60</a:t>
            </a:r>
            <a:br/>
            <a:r>
              <a:t>Comedy             69.7%     73.5%      71.5%       347</a:t>
            </a:r>
            <a:br/>
            <a:r>
              <a:t>Horror             68.3%     72.4%      70.3%       105</a:t>
            </a:r>
            <a:br/>
            <a:r>
              <a:t>Action             66.5%     72.2%      69.2%       230</a:t>
            </a:r>
            <a:br/>
            <a:r>
              <a:t>Family             65.5%     69.6%      67.5%       102</a:t>
            </a:r>
            <a:br/>
            <a:r>
              <a:t>Adventure          64.8%     67.5%      66.1%       160</a:t>
            </a:r>
            <a:br/>
            <a:r>
              <a:t>Science Fiction    63.1%     69.4%      66.1%       108</a:t>
            </a:r>
            <a:br/>
            <a:r>
              <a:t>Romance            62.2%     65.9%      64.0%       179</a:t>
            </a:r>
            <a:br/>
            <a:r>
              <a:t>Thriller           59.9%     68.3%      63.8%       240</a:t>
            </a:r>
            <a:br/>
            <a:r>
              <a:t>  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E054"/>
                </a:solidFill>
              </a:defRPr>
            </a:pPr>
            <a:r>
              <a:t>RECOMMENDATION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3-Tier Hybrid Recommendation Engine: Plot + Genre + Quality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1188720"/>
          </a:xfrm>
          <a:prstGeom prst="roundRect">
            <a:avLst/>
          </a:prstGeom>
          <a:solidFill>
            <a:srgbClr val="1C2228"/>
          </a:solidFill>
          <a:ln w="15240">
            <a:solidFill>
              <a:srgbClr val="2C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9AABB"/>
                </a:solidFill>
              </a:defRPr>
            </a:pPr>
            <a:r>
              <a:t>Objective 3-Tier Hybrid Formula:</a:t>
            </a:r>
          </a:p>
          <a:p>
            <a:pPr>
              <a:spcBef>
                <a:spcPts val="400"/>
              </a:spcBef>
              <a:defRPr sz="1800" b="1">
                <a:solidFill>
                  <a:srgbClr val="00E054"/>
                </a:solidFill>
              </a:defRPr>
            </a:pPr>
            <a:r>
              <a:t>Score = 0.60 × Cosine Similarity + 0.25 × Genre Jaccard Overlap + 0.15 × Bayesian Rating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10728655" cy="1097280"/>
          </a:xfrm>
          <a:prstGeom prst="roundRect">
            <a:avLst/>
          </a:prstGeom>
          <a:solidFill>
            <a:srgbClr val="1C2228"/>
          </a:solidFill>
          <a:ln w="15240">
            <a:solidFill>
              <a:srgbClr val="2C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44368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0BCF4"/>
                </a:solidFill>
              </a:defRPr>
            </a:pPr>
            <a:r>
              <a:t>Tier 1: Plot Cosine Similarity (60%)</a:t>
            </a:r>
          </a:p>
          <a:p>
            <a:pPr>
              <a:spcBef>
                <a:spcPts val="400"/>
              </a:spcBef>
              <a:defRPr sz="1100">
                <a:solidFill>
                  <a:srgbClr val="99AABB"/>
                </a:solidFill>
              </a:defRPr>
            </a:pPr>
            <a:r>
              <a:t>Measures the lexical and thematic vector dot-product between the query synopsis and all 4,680 pre-computed movie TF-IDF vectors: Sim(q, d) = (v_q • v_d) / (||v_q|| * ||v_d||). Ensures narrative alignment with situational elements.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69080"/>
            <a:ext cx="10728655" cy="1097280"/>
          </a:xfrm>
          <a:prstGeom prst="roundRect">
            <a:avLst/>
          </a:prstGeom>
          <a:solidFill>
            <a:srgbClr val="1C2228"/>
          </a:solidFill>
          <a:ln w="15240">
            <a:solidFill>
              <a:srgbClr val="2C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178808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8000"/>
                </a:solidFill>
              </a:defRPr>
            </a:pPr>
            <a:r>
              <a:t>Tier 2: Multi-Label Genre Jaccard Overlap (25%)</a:t>
            </a:r>
          </a:p>
          <a:p>
            <a:pPr>
              <a:spcBef>
                <a:spcPts val="400"/>
              </a:spcBef>
              <a:defRPr sz="1100">
                <a:solidFill>
                  <a:srgbClr val="99AABB"/>
                </a:solidFill>
              </a:defRPr>
            </a:pPr>
            <a:r>
              <a:t>Calculates the Jaccard similarity coefficient between the predicted query top-3 genres and the candidate film's genre tags: J(G_q, G_d) = |G_q ∩ G_d| / |G_q ∪ G_d|. Prevents genre drift where similar words occur in unrelated genres.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03520"/>
            <a:ext cx="10728655" cy="1097280"/>
          </a:xfrm>
          <a:prstGeom prst="roundRect">
            <a:avLst/>
          </a:prstGeom>
          <a:solidFill>
            <a:srgbClr val="1C2228"/>
          </a:solidFill>
          <a:ln w="15240">
            <a:solidFill>
              <a:srgbClr val="2C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413248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E054"/>
                </a:solidFill>
              </a:defRPr>
            </a:pPr>
            <a:r>
              <a:t>Tier 3: Bayesian Normalized Quality (15%)</a:t>
            </a:r>
          </a:p>
          <a:p>
            <a:pPr>
              <a:spcBef>
                <a:spcPts val="400"/>
              </a:spcBef>
              <a:defRPr sz="1100">
                <a:solidFill>
                  <a:srgbClr val="99AABB"/>
                </a:solidFill>
              </a:defRPr>
            </a:pPr>
            <a:r>
              <a:t>Applies IMDB-style Bayesian shrinkage toward the global catalog mean (C = 6.1, m = 300 votes): WR = (v / (v+300)) * R + (300 / (v+300)) * 6.1. Prevents obscure 1-vote 10.0 ratings from dominating.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E054"/>
                </a:solidFill>
              </a:defRPr>
            </a:pPr>
            <a:r>
              <a:t>DESIGN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UI/UX Architecture: Authentic Letterboxd Cinema Aesthetic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896112"/>
          </a:xfrm>
          <a:prstGeom prst="roundRect">
            <a:avLst/>
          </a:prstGeom>
          <a:solidFill>
            <a:srgbClr val="1C2228"/>
          </a:solidFill>
          <a:ln w="15240">
            <a:solidFill>
              <a:srgbClr val="2C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10149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E054"/>
                </a:solidFill>
              </a:defRPr>
            </a:pPr>
            <a:r>
              <a:t>• Cinematic Dark Palette</a:t>
            </a:r>
          </a:p>
          <a:p>
            <a:pPr>
              <a:spcBef>
                <a:spcPts val="200"/>
              </a:spcBef>
              <a:defRPr sz="1050">
                <a:solidFill>
                  <a:srgbClr val="99AABB"/>
                </a:solidFill>
              </a:defRPr>
            </a:pPr>
            <a:r>
              <a:t>Engineered with Letterboxd's signature matte canvas (#14181c), surface cards (#1c2228), and trademark accent dots: Green (#00e054), Orange (#ff8000), and Blue (#40bcf4). Includes dark/light mode toggle with localStorage persistence.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50592"/>
            <a:ext cx="10728655" cy="896112"/>
          </a:xfrm>
          <a:prstGeom prst="roundRect">
            <a:avLst/>
          </a:prstGeom>
          <a:solidFill>
            <a:srgbClr val="1C2228"/>
          </a:solidFill>
          <a:ln w="15240">
            <a:solidFill>
              <a:srgbClr val="2C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23744"/>
            <a:ext cx="10149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0BCF4"/>
                </a:solidFill>
              </a:defRPr>
            </a:pPr>
            <a:r>
              <a:t>• Silky CSS Grid Typebar</a:t>
            </a:r>
          </a:p>
          <a:p>
            <a:pPr>
              <a:spcBef>
                <a:spcPts val="200"/>
              </a:spcBef>
              <a:defRPr sz="1050">
                <a:solidFill>
                  <a:srgbClr val="99AABB"/>
                </a:solidFill>
              </a:defRPr>
            </a:pPr>
            <a:r>
              <a:t>Uses CSS Grid row interpolation (grid-template-rows: 0fr -&gt; 1fr at 0.32s cubic-bezier) rather than max-height snapping. Eliminates 60Hz hover-flicker loops with 600ms grace debounce and focus retention.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38144"/>
            <a:ext cx="10728655" cy="896112"/>
          </a:xfrm>
          <a:prstGeom prst="roundRect">
            <a:avLst/>
          </a:prstGeom>
          <a:solidFill>
            <a:srgbClr val="1C2228"/>
          </a:solidFill>
          <a:ln w="15240">
            <a:solidFill>
              <a:srgbClr val="2C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511296"/>
            <a:ext cx="10149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E054"/>
                </a:solidFill>
              </a:defRPr>
            </a:pPr>
            <a:r>
              <a:t>• Instant Featured Catalog</a:t>
            </a:r>
          </a:p>
          <a:p>
            <a:pPr>
              <a:spcBef>
                <a:spcPts val="200"/>
              </a:spcBef>
              <a:defRPr sz="1050">
                <a:solidFill>
                  <a:srgbClr val="99AABB"/>
                </a:solidFill>
              </a:defRPr>
            </a:pPr>
            <a:r>
              <a:t>Upon initial landing (DOMContentLoaded), automatically retrieves and displays the top 12 Bayesian-weighted masterpieces (Death Note, Spirited Away, Shawshank Redemption) so the page is never blank.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25696"/>
            <a:ext cx="10728655" cy="896112"/>
          </a:xfrm>
          <a:prstGeom prst="roundRect">
            <a:avLst/>
          </a:prstGeom>
          <a:solidFill>
            <a:srgbClr val="1C2228"/>
          </a:solidFill>
          <a:ln w="15240">
            <a:solidFill>
              <a:srgbClr val="2C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498848"/>
            <a:ext cx="10149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0BCF4"/>
                </a:solidFill>
              </a:defRPr>
            </a:pPr>
            <a:r>
              <a:t>• Dynamic Letterboxd SVG Posters</a:t>
            </a:r>
          </a:p>
          <a:p>
            <a:pPr>
              <a:spcBef>
                <a:spcPts val="200"/>
              </a:spcBef>
              <a:defRPr sz="1050">
                <a:solidFill>
                  <a:srgbClr val="99AABB"/>
                </a:solidFill>
              </a:defRPr>
            </a:pPr>
            <a:r>
              <a:t>Overhauled poster pipeline with 200 OK dynamic SVG graphics showing film initials, release year, and genre chip, guaranteeing zero 404 network errors even when TMDB API keys are absent.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413248"/>
            <a:ext cx="10728655" cy="896112"/>
          </a:xfrm>
          <a:prstGeom prst="roundRect">
            <a:avLst/>
          </a:prstGeom>
          <a:solidFill>
            <a:srgbClr val="1C2228"/>
          </a:solidFill>
          <a:ln w="15240">
            <a:solidFill>
              <a:srgbClr val="2C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486400"/>
            <a:ext cx="10149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E054"/>
                </a:solidFill>
              </a:defRPr>
            </a:pPr>
            <a:r>
              <a:t>• Interactive Details Modal</a:t>
            </a:r>
          </a:p>
          <a:p>
            <a:pPr>
              <a:spcBef>
                <a:spcPts val="200"/>
              </a:spcBef>
              <a:defRPr sz="1050">
                <a:solidFill>
                  <a:srgbClr val="99AABB"/>
                </a:solidFill>
              </a:defRPr>
            </a:pPr>
            <a:r>
              <a:t>Clicking any recommendation card opens an overlay modal with plot synopsis, thematic tags, vote tally, and a direct one-click YouTube official trailer search link.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E054"/>
                </a:solidFill>
              </a:defRPr>
            </a:pPr>
            <a:r>
              <a:t>CLOUD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Zero-Dependency Serverless Engineering: Beating the 250MB Lambda Limit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C2228"/>
          </a:solidFill>
          <a:ln w="15240">
            <a:solidFill>
              <a:srgbClr val="2C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8000"/>
                </a:solidFill>
              </a:defRPr>
            </a:pPr>
            <a:r>
              <a:t>The Serverless Dilemma</a:t>
            </a:r>
          </a:p>
          <a:p>
            <a:pPr>
              <a:spcBef>
                <a:spcPts val="1200"/>
              </a:spcBef>
              <a:defRPr sz="1300" b="1">
                <a:solidFill>
                  <a:srgbClr val="FFFFFF"/>
                </a:solidFill>
              </a:defRPr>
            </a:pPr>
            <a:r>
              <a:t>Vercel Lambda Limit</a:t>
            </a:r>
          </a:p>
          <a:p>
            <a:pPr>
              <a:spcBef>
                <a:spcPts val="300"/>
              </a:spcBef>
              <a:defRPr sz="1100">
                <a:solidFill>
                  <a:srgbClr val="99AABB"/>
                </a:solidFill>
              </a:defRPr>
            </a:pPr>
            <a:r>
              <a:t>Vercel enforces a strict unzipped bundle limit of 250 MB for serverless Python functions.</a:t>
            </a:r>
          </a:p>
          <a:p>
            <a:pPr>
              <a:spcBef>
                <a:spcPts val="1200"/>
              </a:spcBef>
              <a:defRPr sz="1300" b="1">
                <a:solidFill>
                  <a:srgbClr val="FFFFFF"/>
                </a:solidFill>
              </a:defRPr>
            </a:pPr>
            <a:r>
              <a:t>The Bloat of ML Dependencies</a:t>
            </a:r>
          </a:p>
          <a:p>
            <a:pPr>
              <a:spcBef>
                <a:spcPts val="300"/>
              </a:spcBef>
              <a:defRPr sz="1100">
                <a:solidFill>
                  <a:srgbClr val="99AABB"/>
                </a:solidFill>
              </a:defRPr>
            </a:pPr>
            <a:r>
              <a:t>Installing scikit-learn, scipy, numpy, and pandas immediately produces a 544.75 MB bundle, crashing the deployment build with [LAMBDA_SIZE_EXCEEDED].</a:t>
            </a:r>
          </a:p>
          <a:p>
            <a:pPr>
              <a:spcBef>
                <a:spcPts val="1200"/>
              </a:spcBef>
              <a:defRPr sz="1300" b="1">
                <a:solidFill>
                  <a:srgbClr val="FFFFFF"/>
                </a:solidFill>
              </a:defRPr>
            </a:pPr>
            <a:r>
              <a:t>Cold Start Penalty</a:t>
            </a:r>
          </a:p>
          <a:p>
            <a:pPr>
              <a:spcBef>
                <a:spcPts val="300"/>
              </a:spcBef>
              <a:defRPr sz="1100">
                <a:solidFill>
                  <a:srgbClr val="99AABB"/>
                </a:solidFill>
              </a:defRPr>
            </a:pPr>
            <a:r>
              <a:t>Importing massive binary libraries adds 3 to 6 seconds of cold-start latency per user query.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1C2228"/>
          </a:solidFill>
          <a:ln w="15240">
            <a:solidFill>
              <a:srgbClr val="2C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054"/>
                </a:solidFill>
              </a:defRPr>
            </a:pPr>
            <a:r>
              <a:t>The Pure-Python Solution</a:t>
            </a:r>
          </a:p>
          <a:p>
            <a:pPr>
              <a:spcBef>
                <a:spcPts val="1200"/>
              </a:spcBef>
              <a:defRPr sz="1300" b="1">
                <a:solidFill>
                  <a:srgbClr val="FFFFFF"/>
                </a:solidFill>
              </a:defRPr>
            </a:pPr>
            <a:r>
              <a:t>Custom Linear-Algebra Engine</a:t>
            </a:r>
          </a:p>
          <a:p>
            <a:pPr>
              <a:spcBef>
                <a:spcPts val="300"/>
              </a:spcBef>
              <a:defRPr sz="1100">
                <a:solidFill>
                  <a:srgbClr val="99AABB"/>
                </a:solidFill>
              </a:defRPr>
            </a:pPr>
            <a:r>
              <a:t>Trained model parameters, vocab, IDF, and weights are exported to a compact 6.9 MB JSON bundle (serverless_model.json).</a:t>
            </a:r>
          </a:p>
          <a:p>
            <a:pPr>
              <a:spcBef>
                <a:spcPts val="1200"/>
              </a:spcBef>
              <a:defRPr sz="1300" b="1">
                <a:solidFill>
                  <a:srgbClr val="FFFFFF"/>
                </a:solidFill>
              </a:defRPr>
            </a:pPr>
            <a:r>
              <a:t>Zero Binary Dependencies</a:t>
            </a:r>
          </a:p>
          <a:p>
            <a:pPr>
              <a:spcBef>
                <a:spcPts val="300"/>
              </a:spcBef>
              <a:defRPr sz="1100">
                <a:solidFill>
                  <a:srgbClr val="99AABB"/>
                </a:solidFill>
              </a:defRPr>
            </a:pPr>
            <a:r>
              <a:t>Built a pure-Python dot-product, sublinear TF-IDF tokenizer, and sigmoid inference engine using standard math library.</a:t>
            </a:r>
          </a:p>
          <a:p>
            <a:pPr>
              <a:spcBef>
                <a:spcPts val="1200"/>
              </a:spcBef>
              <a:defRPr sz="1300" b="1">
                <a:solidFill>
                  <a:srgbClr val="FFFFFF"/>
                </a:solidFill>
              </a:defRPr>
            </a:pPr>
            <a:r>
              <a:t>Bundle Reduced to &lt;15 MB</a:t>
            </a:r>
          </a:p>
          <a:p>
            <a:pPr>
              <a:spcBef>
                <a:spcPts val="300"/>
              </a:spcBef>
              <a:defRPr sz="1100">
                <a:solidFill>
                  <a:srgbClr val="99AABB"/>
                </a:solidFill>
              </a:defRPr>
            </a:pPr>
            <a:r>
              <a:t>requirements.txt requires only flask&gt;=3.0.0. The entire deployment is 94% below Vercel's limit!</a:t>
            </a:r>
          </a:p>
          <a:p>
            <a:pPr>
              <a:spcBef>
                <a:spcPts val="1200"/>
              </a:spcBef>
              <a:defRPr sz="1300" b="1">
                <a:solidFill>
                  <a:srgbClr val="FFFFFF"/>
                </a:solidFill>
              </a:defRPr>
            </a:pPr>
            <a:r>
              <a:t>Sub-50ms Cold Starts</a:t>
            </a:r>
          </a:p>
          <a:p>
            <a:pPr>
              <a:spcBef>
                <a:spcPts val="300"/>
              </a:spcBef>
              <a:defRPr sz="1100">
                <a:solidFill>
                  <a:srgbClr val="99AABB"/>
                </a:solidFill>
              </a:defRPr>
            </a:pPr>
            <a:r>
              <a:t>Inference runs instantly with near-zero latency and high serverless concurrency.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E054"/>
                </a:solidFill>
              </a:defRPr>
            </a:pPr>
            <a:r>
              <a:t>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End-to-End Production Testing &amp; Headless Chrome 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4754880"/>
          </a:xfrm>
          <a:prstGeom prst="roundRect">
            <a:avLst/>
          </a:prstGeom>
          <a:solidFill>
            <a:srgbClr val="1C2228"/>
          </a:solidFill>
          <a:ln w="15240">
            <a:solidFill>
              <a:srgbClr val="2C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9966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0BCF4"/>
                </a:solidFill>
              </a:defRPr>
            </a:pPr>
            <a:r>
              <a:t>Rigorous Verification via Chrome DevTools Protocol (CDP)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1. Headless Chrome Browser Automation</a:t>
            </a:r>
          </a:p>
          <a:p>
            <a:pPr>
              <a:spcBef>
                <a:spcPts val="200"/>
              </a:spcBef>
              <a:defRPr sz="1100">
                <a:solidFill>
                  <a:srgbClr val="99AABB"/>
                </a:solidFill>
              </a:defRPr>
            </a:pPr>
            <a:r>
              <a:t>Connected to the live deployment (https://movie-genre-classification-j8iw.vercel.app/) using CDP websockets to inspect real browser runtime exceptions, network requests, and DOM mutations.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2. Root-Cause Debugging (Syntax Error Resolution)</a:t>
            </a:r>
          </a:p>
          <a:p>
            <a:pPr>
              <a:spcBef>
                <a:spcPts val="200"/>
              </a:spcBef>
              <a:defRPr sz="1100">
                <a:solidFill>
                  <a:srgbClr val="99AABB"/>
                </a:solidFill>
              </a:defRPr>
            </a:pPr>
            <a:r>
              <a:t>Caught a subtle browser-level SyntaxError caused by Python string literal quote unescaping in escapeXml (case ''':). Replaced with a clean entity replacement regex, restoring 100% script parsing.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3. 100% Button Reliability Verification</a:t>
            </a:r>
          </a:p>
          <a:p>
            <a:pPr>
              <a:spcBef>
                <a:spcPts val="200"/>
              </a:spcBef>
              <a:defRPr sz="1100">
                <a:solidFill>
                  <a:srgbClr val="99AABB"/>
                </a:solidFill>
              </a:defRPr>
            </a:pPr>
            <a:r>
              <a:t>Verified that clicking 'Classify Genres &amp; Match Films' or 'Random Example' activates immediately, updates button state to '⏳ Classifying...', auto-loads archetype storyline on empty inputs, and populates predictions without failure.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4. Zero-404 Asset Guarantee</a:t>
            </a:r>
          </a:p>
          <a:p>
            <a:pPr>
              <a:spcBef>
                <a:spcPts val="200"/>
              </a:spcBef>
              <a:defRPr sz="1100">
                <a:solidFill>
                  <a:srgbClr val="99AABB"/>
                </a:solidFill>
              </a:defRPr>
            </a:pPr>
            <a:r>
              <a:t>All poster requests successfully resolve with 200 OK SVG fallback graphics when TMDB keys are absent, eliminating broken image icons.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5. Cross-Browser Resilient Clipboard</a:t>
            </a:r>
          </a:p>
          <a:p>
            <a:pPr>
              <a:spcBef>
                <a:spcPts val="200"/>
              </a:spcBef>
              <a:defRPr sz="1100">
                <a:solidFill>
                  <a:srgbClr val="99AABB"/>
                </a:solidFill>
              </a:defRPr>
            </a:pPr>
            <a:r>
              <a:t>Implemented safeCopyText() with document.execCommand('copy') fallback for non-secure contexts and embedded preview iframes.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E054"/>
                </a:solidFill>
              </a:defRPr>
            </a:pPr>
            <a:r>
              <a:t>PROJECT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Key Project Takeaways &amp; Future Architectural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C2228"/>
          </a:solidFill>
          <a:ln w="15240">
            <a:solidFill>
              <a:srgbClr val="2C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054"/>
                </a:solidFill>
              </a:defRPr>
            </a:pPr>
            <a:r>
              <a:t>Key Project Achievements</a:t>
            </a:r>
          </a:p>
          <a:p>
            <a:pPr>
              <a:spcBef>
                <a:spcPts val="1200"/>
              </a:spcBef>
              <a:defRPr sz="1300" b="1">
                <a:solidFill>
                  <a:srgbClr val="FFFFFF"/>
                </a:solidFill>
              </a:defRPr>
            </a:pPr>
            <a:r>
              <a:t>✓ Accuracy More Than Doubled</a:t>
            </a:r>
          </a:p>
          <a:p>
            <a:pPr>
              <a:spcBef>
                <a:spcPts val="300"/>
              </a:spcBef>
              <a:defRPr sz="1100">
                <a:solidFill>
                  <a:srgbClr val="99AABB"/>
                </a:solidFill>
              </a:defRPr>
            </a:pPr>
            <a:r>
              <a:t>Advanced from 35% on 20 samples to 86.7% Hamming Accuracy across 4,680+ titles.</a:t>
            </a:r>
          </a:p>
          <a:p>
            <a:pPr>
              <a:spcBef>
                <a:spcPts val="1200"/>
              </a:spcBef>
              <a:defRPr sz="1300" b="1">
                <a:solidFill>
                  <a:srgbClr val="FFFFFF"/>
                </a:solidFill>
              </a:defRPr>
            </a:pPr>
            <a:r>
              <a:t>✓ Realistic Multi-Label Modeling</a:t>
            </a:r>
          </a:p>
          <a:p>
            <a:pPr>
              <a:spcBef>
                <a:spcPts val="300"/>
              </a:spcBef>
              <a:defRPr sz="1100">
                <a:solidFill>
                  <a:srgbClr val="99AABB"/>
                </a:solidFill>
              </a:defRPr>
            </a:pPr>
            <a:r>
              <a:t>Sigmoid continuous probability calibration reflects actual hybrid cinema genres.</a:t>
            </a:r>
          </a:p>
          <a:p>
            <a:pPr>
              <a:spcBef>
                <a:spcPts val="1200"/>
              </a:spcBef>
              <a:defRPr sz="1300" b="1">
                <a:solidFill>
                  <a:srgbClr val="FFFFFF"/>
                </a:solidFill>
              </a:defRPr>
            </a:pPr>
            <a:r>
              <a:t>✓ Full Interpretability (XAI)</a:t>
            </a:r>
          </a:p>
          <a:p>
            <a:pPr>
              <a:spcBef>
                <a:spcPts val="300"/>
              </a:spcBef>
              <a:defRPr sz="1100">
                <a:solidFill>
                  <a:srgbClr val="99AABB"/>
                </a:solidFill>
              </a:defRPr>
            </a:pPr>
            <a:r>
              <a:t>Feature attribution provides screenwriters clear insight into predictive signals.</a:t>
            </a:r>
          </a:p>
          <a:p>
            <a:pPr>
              <a:spcBef>
                <a:spcPts val="1200"/>
              </a:spcBef>
              <a:defRPr sz="1300" b="1">
                <a:solidFill>
                  <a:srgbClr val="FFFFFF"/>
                </a:solidFill>
              </a:defRPr>
            </a:pPr>
            <a:r>
              <a:t>✓ Production Resilience</a:t>
            </a:r>
          </a:p>
          <a:p>
            <a:pPr>
              <a:spcBef>
                <a:spcPts val="300"/>
              </a:spcBef>
              <a:defRPr sz="1100">
                <a:solidFill>
                  <a:srgbClr val="99AABB"/>
                </a:solidFill>
              </a:defRPr>
            </a:pPr>
            <a:r>
              <a:t>Lightweight &lt;15 MB serverless lambda deployment with 0 console errors.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1C2228"/>
          </a:solidFill>
          <a:ln w="15240">
            <a:solidFill>
              <a:srgbClr val="2C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0BCF4"/>
                </a:solidFill>
              </a:defRPr>
            </a:pPr>
            <a:r>
              <a:t>Future Technical Roadmap</a:t>
            </a:r>
          </a:p>
          <a:p>
            <a:pPr>
              <a:spcBef>
                <a:spcPts val="1200"/>
              </a:spcBef>
              <a:defRPr sz="1300" b="1">
                <a:solidFill>
                  <a:srgbClr val="FFFFFF"/>
                </a:solidFill>
              </a:defRPr>
            </a:pPr>
            <a:r>
              <a:t>→ Sentence Transformers (ONNX Runtime)</a:t>
            </a:r>
          </a:p>
          <a:p>
            <a:pPr>
              <a:spcBef>
                <a:spcPts val="300"/>
              </a:spcBef>
              <a:defRPr sz="1100">
                <a:solidFill>
                  <a:srgbClr val="99AABB"/>
                </a:solidFill>
              </a:defRPr>
            </a:pPr>
            <a:r>
              <a:t>Fine-tune all-MiniLM-L6-v2 embeddings quantised via ONNX for deep semantic contextual similarity.</a:t>
            </a:r>
          </a:p>
          <a:p>
            <a:pPr>
              <a:spcBef>
                <a:spcPts val="1200"/>
              </a:spcBef>
              <a:defRPr sz="1300" b="1">
                <a:solidFill>
                  <a:srgbClr val="FFFFFF"/>
                </a:solidFill>
              </a:defRPr>
            </a:pPr>
            <a:r>
              <a:t>→ Collaborative User Watchlists</a:t>
            </a:r>
          </a:p>
          <a:p>
            <a:pPr>
              <a:spcBef>
                <a:spcPts val="300"/>
              </a:spcBef>
              <a:defRPr sz="1100">
                <a:solidFill>
                  <a:srgbClr val="99AABB"/>
                </a:solidFill>
              </a:defRPr>
            </a:pPr>
            <a:r>
              <a:t>Integrate user profile history and implicit feedback loops with matrix factorization.</a:t>
            </a:r>
          </a:p>
          <a:p>
            <a:pPr>
              <a:spcBef>
                <a:spcPts val="1200"/>
              </a:spcBef>
              <a:defRPr sz="1300" b="1">
                <a:solidFill>
                  <a:srgbClr val="FFFFFF"/>
                </a:solidFill>
              </a:defRPr>
            </a:pPr>
            <a:r>
              <a:t>→ Real-Time Screenplay PDF Ingestion</a:t>
            </a:r>
          </a:p>
          <a:p>
            <a:pPr>
              <a:spcBef>
                <a:spcPts val="300"/>
              </a:spcBef>
              <a:defRPr sz="1100">
                <a:solidFill>
                  <a:srgbClr val="99AABB"/>
                </a:solidFill>
              </a:defRPr>
            </a:pPr>
            <a:r>
              <a:t>Allow screenwriters to drag-and-drop full screenplay PDFs for act-by-act genre pacing analysis.</a:t>
            </a:r>
          </a:p>
          <a:p>
            <a:pPr>
              <a:spcBef>
                <a:spcPts val="1200"/>
              </a:spcBef>
              <a:defRPr sz="1300" b="1">
                <a:solidFill>
                  <a:srgbClr val="FFFFFF"/>
                </a:solidFill>
              </a:defRPr>
            </a:pPr>
            <a:r>
              <a:t>→ Live TMDB Webhook Sync</a:t>
            </a:r>
          </a:p>
          <a:p>
            <a:pPr>
              <a:spcBef>
                <a:spcPts val="300"/>
              </a:spcBef>
              <a:defRPr sz="1100">
                <a:solidFill>
                  <a:srgbClr val="99AABB"/>
                </a:solidFill>
              </a:defRPr>
            </a:pPr>
            <a:r>
              <a:t>Automatically sync new releases every Friday to keep the 4,680+ title catalog continuously fresh.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C2228"/>
          </a:solidFill>
          <a:ln w="15240">
            <a:solidFill>
              <a:srgbClr val="2C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645920"/>
            <a:ext cx="85340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0E054"/>
                </a:solidFill>
              </a:defRPr>
            </a:pPr>
            <a:r>
              <a:t>Thank You! | Live Demonstration</a:t>
            </a:r>
          </a:p>
          <a:p>
            <a:pPr>
              <a:spcBef>
                <a:spcPts val="1600"/>
              </a:spcBef>
              <a:defRPr sz="1800" b="1">
                <a:solidFill>
                  <a:srgbClr val="FFFFFF"/>
                </a:solidFill>
              </a:defRPr>
            </a:pPr>
            <a:r>
              <a:t>Explore the Cinemix ▶ Platform Live:</a:t>
            </a:r>
          </a:p>
          <a:p>
            <a:pPr>
              <a:spcBef>
                <a:spcPts val="800"/>
              </a:spcBef>
              <a:defRPr sz="1500" b="1">
                <a:solidFill>
                  <a:srgbClr val="40BCF4"/>
                </a:solidFill>
              </a:defRPr>
            </a:pPr>
            <a:r>
              <a:t>🌐 Live URL: https://movie-genre-classification-j8iw.vercel.app/</a:t>
            </a:r>
            <a:br/>
            <a:r>
              <a:t>📁 GitHub: https://github.com/sanskarp910-svg/movie-genre-classification.git</a:t>
            </a:r>
          </a:p>
          <a:p>
            <a:pPr>
              <a:spcBef>
                <a:spcPts val="2400"/>
              </a:spcBef>
              <a:defRPr sz="2200" b="1">
                <a:solidFill>
                  <a:srgbClr val="FF8000"/>
                </a:solidFill>
              </a:defRPr>
            </a:pPr>
            <a:r>
              <a:t>Questions &amp; Interactive Q&amp;A Session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